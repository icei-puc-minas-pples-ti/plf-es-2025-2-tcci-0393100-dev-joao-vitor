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TCC DashVendas. Cumprimentar a banca, apresentar-se e introduzir o sistema como uma plataforma de análise comercial que vai além de um painel visual, com processamento real no back-end.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Contextualizar a dor real: dados dispersos, análise manual, reação tardia e dificuldade de interpretação. A oportunidade é centralizar, automatizar e interpretar.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os seis pilares funcionais. Enfatizar que o diferencial é o processamento no back-end (validação, cruzamento, cálculo) e não apenas a visualização.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atores complementares. O controle de acesso por papel garante que cada um veja apenas o que lhe compete. São 15 histórias de usuário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dos casos de uso agrupados por área. São 15 casos de uso cobrindo análise, importação, IA, relatórios e administração.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 em camadas: apresentação, controle, serviços, persistência e integração. Cada camada tem responsabilidade única, o que reduz acoplamento e facilita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padrões: Strategy para KPIs, Template Method para validação, Adapter para a IA e Repository para persistência. Cada um resolve um problema concreto de extensibilidade.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Detalhar o fluxo de importação em três etapas separadas. Destacar o cruzamento por similaridade textual com limiar de 0,75 e os logs de auditoria em cada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assistente tem duas capacidades: análise interpretativa (UC12) e perguntas em linguagem natural (UC13). O padrão Adapter permite usar a GPT API ou um fallback local, garantindo disponibilidade.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dados com 12 entidades. Persistência em SQLite via SQLAlchemy ORM, com seed automático para facilitar a demonstração e os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Stack: back-end em Python/FastAPI com SQLAlchemy, Pandas e JWT; front-end em React/Vite com rotas protegidas. Design system próprio em tema escuro.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suíte cobre os 7 casos documentados (CT01-04 e TI01-03) mais testes unitários dos padrões. Cada teste mapeia diretamente para um caso da documentação, garantindo rastreabilidade.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da demonstração ao vivo. Sugestão de roteiro: entrar como analista e importar a planilha de exemplo (3 etapas), depois entrar como gestor para ver o dashboard e usar o assistente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todos os objetivos foram atingidos, a arquitetura é sólida, há diferencial de IA e qualidade comprovada por testes. Mencionar trabalhos futuros como evolução natural.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Agradecer a banca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7315200" cy="7315200"/>
          </a:xfrm>
          <a:prstGeom prst="ellipse">
            <a:avLst/>
          </a:prstGeom>
          <a:solidFill>
            <a:srgbClr val="F5B133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00400"/>
            <a:ext cx="6400800" cy="6400800"/>
          </a:xfrm>
          <a:prstGeom prst="ellipse">
            <a:avLst/>
          </a:prstGeom>
          <a:solidFill>
            <a:srgbClr val="36C9B6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77724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5B13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777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2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DV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8229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Dash</a:t>
            </a:r>
            <a:pPr indent="0" marL="0">
              <a:buNone/>
            </a:pPr>
            <a:r>
              <a:rPr lang="en-US" sz="2400" b="1" dirty="0">
                <a:solidFill>
                  <a:srgbClr val="F5B1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Vendas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TRABALHO DE CONCLUSÃO DE CURSO · ENGENHARIA DE SOFTWARE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1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Plataforma inteligente de</a:t>
            </a:r>
            <a:endParaRPr lang="en-US" sz="4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1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análise comercial orientada a dados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Importação estruturada de planilhas, cálculo automatizado de KPIs, acompanhamento de metas, alertas de desempenho e assistente de IA para apoio à decisão.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5532120"/>
            <a:ext cx="10424160" cy="0"/>
          </a:xfrm>
          <a:prstGeom prst="line">
            <a:avLst/>
          </a:prstGeom>
          <a:noFill/>
          <a:ln w="12700">
            <a:solidFill>
              <a:srgbClr val="243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669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  </a:t>
            </a:r>
            <a:pPr indent="0" marL="0">
              <a:buNone/>
            </a:pPr>
            <a:r>
              <a:rPr lang="en-US" sz="130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João Vítor Rajão e Souza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6053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Orientador  </a:t>
            </a:r>
            <a:pPr indent="0" marL="0">
              <a:buNone/>
            </a:pPr>
            <a:r>
              <a:rPr lang="en-US" sz="130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Prof. Cleiton Silva Tavares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566928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9BCC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PUC Minas ·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B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problema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Equipes comerciais tomam decisões a partir de dados dispersos em múltiplas planilhas e sistemas fragmentados — um processo manual, lento e sujeito a erros.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7889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8232E"/>
          </a:solidFill>
          <a:ln/>
        </p:spPr>
      </p:sp>
      <p:pic>
        <p:nvPicPr>
          <p:cNvPr id="7" name="Image 0" descr="assets/ic_import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926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5661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Dados fragmentados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97764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Informações espalhadas em planilhas sem padronização nem validação.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251460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7889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8232E"/>
          </a:solidFill>
          <a:ln/>
        </p:spPr>
      </p:sp>
      <p:pic>
        <p:nvPicPr>
          <p:cNvPr id="12" name="Image 1" descr="assets/ic_chart_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926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5661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Análise manual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39312" y="397764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 de indicadores feito à mão, consumindo tempo e gerando inconsistências.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251460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27889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8232E"/>
          </a:solidFill>
          <a:ln/>
        </p:spPr>
      </p:sp>
      <p:pic>
        <p:nvPicPr>
          <p:cNvPr id="17" name="Image 2" descr="assets/ic_bell_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9260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5661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Reação tardia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397764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Quedas de desempenho são percebidas tarde demais para correção.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52560" y="251460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08592" y="27889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8232E"/>
          </a:solidFill>
          <a:ln/>
        </p:spPr>
      </p:sp>
      <p:pic>
        <p:nvPicPr>
          <p:cNvPr id="22" name="Image 3" descr="assets/ic_robot_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2" y="29260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08592" y="35661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Interpretação difícil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08592" y="397764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Números brutos sem leitura clara dificultam decisões estratégicas.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1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Oportunidade  </a:t>
            </a:r>
            <a:pPr indent="0" marL="0">
              <a:buNone/>
            </a:pPr>
            <a:r>
              <a:rPr lang="en-US" sz="14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centralizar, automatizar e interpretar os dados de vendas em uma única plataforma de apoio à decisão.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DashVendas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B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solução: DashVendas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plataforma com núcleo robusto de processamento no back-end que transforma dados operacionais em inteligência acionável.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9584" cy="1517904"/>
          </a:xfrm>
          <a:prstGeom prst="roundRect">
            <a:avLst>
              <a:gd name="adj" fmla="val 5422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688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5B133">
              <a:alpha val="14000"/>
            </a:srgbClr>
          </a:solidFill>
          <a:ln/>
        </p:spPr>
      </p:sp>
      <p:pic>
        <p:nvPicPr>
          <p:cNvPr id="7" name="Image 0" descr="assets/ic_import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59689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2432304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Importação estruturada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06324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de Excel em 3 etapas: importar, validar e cruzar produtos com o catálogo.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79392" y="2194560"/>
            <a:ext cx="3529584" cy="1517904"/>
          </a:xfrm>
          <a:prstGeom prst="roundRect">
            <a:avLst>
              <a:gd name="adj" fmla="val 5422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07992" y="24688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5B133">
              <a:alpha val="14000"/>
            </a:srgbClr>
          </a:solidFill>
          <a:ln/>
        </p:spPr>
      </p:sp>
      <p:pic>
        <p:nvPicPr>
          <p:cNvPr id="12" name="Image 1" descr="assets/ic_chart_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59689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2432304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KPIs automatizados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07992" y="306324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 de indicadores consolidados por período, região, categoria e vendedor.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10144" y="2194560"/>
            <a:ext cx="3529584" cy="1517904"/>
          </a:xfrm>
          <a:prstGeom prst="roundRect">
            <a:avLst>
              <a:gd name="adj" fmla="val 5422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38744" y="24688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5B133">
              <a:alpha val="14000"/>
            </a:srgbClr>
          </a:solidFill>
          <a:ln/>
        </p:spPr>
      </p:sp>
      <p:pic>
        <p:nvPicPr>
          <p:cNvPr id="17" name="Image 2" descr="assets/ic_target_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596896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42832" y="2432304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Metas &amp; alertas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238744" y="306324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Acompanhamento de atingimento e alertas automáticos de risco de desempenho.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3913632"/>
            <a:ext cx="3529584" cy="1517904"/>
          </a:xfrm>
          <a:prstGeom prst="roundRect">
            <a:avLst>
              <a:gd name="adj" fmla="val 5422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1879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5B133">
              <a:alpha val="14000"/>
            </a:srgbClr>
          </a:solidFill>
          <a:ln/>
        </p:spPr>
      </p:sp>
      <p:pic>
        <p:nvPicPr>
          <p:cNvPr id="22" name="Image 3" descr="assets/ic_robot_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31596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81328" y="4151376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Assistente de IA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77240" y="4782312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Análises interpretativas e perguntas em linguagem natural sobre os resultados.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279392" y="3913632"/>
            <a:ext cx="3529584" cy="1517904"/>
          </a:xfrm>
          <a:prstGeom prst="roundRect">
            <a:avLst>
              <a:gd name="adj" fmla="val 5422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07992" y="41879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5B133">
              <a:alpha val="14000"/>
            </a:srgbClr>
          </a:solidFill>
          <a:ln/>
        </p:spPr>
      </p:sp>
      <p:pic>
        <p:nvPicPr>
          <p:cNvPr id="27" name="Image 4" descr="assets/ic_report_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4315968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12080" y="4151376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Relatórios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507992" y="4782312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consolidada e envio periódico automático aos destinatários.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010144" y="3913632"/>
            <a:ext cx="3529584" cy="1517904"/>
          </a:xfrm>
          <a:prstGeom prst="roundRect">
            <a:avLst>
              <a:gd name="adj" fmla="val 5422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38744" y="418795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5B133">
              <a:alpha val="14000"/>
            </a:srgbClr>
          </a:solidFill>
          <a:ln/>
        </p:spPr>
      </p:sp>
      <p:pic>
        <p:nvPicPr>
          <p:cNvPr id="32" name="Image 5" descr="assets/ic_shield_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315968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42832" y="4151376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Governança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238744" y="4782312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Perfis de acesso, permissões e logs de auditoria de operações críticas.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DashVendas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B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DE USUÁRIOS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Cinco perfis de acesso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03120" cy="2926080"/>
          </a:xfrm>
          <a:prstGeom prst="roundRect">
            <a:avLst>
              <a:gd name="adj" fmla="val 3913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103120"/>
            <a:ext cx="822960" cy="822960"/>
          </a:xfrm>
          <a:prstGeom prst="ellipse">
            <a:avLst/>
          </a:prstGeom>
          <a:solidFill>
            <a:srgbClr val="18232E"/>
          </a:solidFill>
          <a:ln w="12700">
            <a:solidFill>
              <a:srgbClr val="243341"/>
            </a:solidFill>
            <a:prstDash val="solid"/>
          </a:ln>
        </p:spPr>
      </p:sp>
      <p:pic>
        <p:nvPicPr>
          <p:cNvPr id="6" name="Image 0" descr="assets/ic_ges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22768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0632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Vendedor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05840" y="3520440"/>
            <a:ext cx="1188720" cy="0"/>
          </a:xfrm>
          <a:prstGeom prst="line">
            <a:avLst/>
          </a:prstGeom>
          <a:noFill/>
          <a:ln w="12700">
            <a:solidFill>
              <a:srgbClr val="2433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 seu desempenho individual e acompanha suas metas.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816352" y="1737360"/>
            <a:ext cx="2103120" cy="2926080"/>
          </a:xfrm>
          <a:prstGeom prst="roundRect">
            <a:avLst>
              <a:gd name="adj" fmla="val 3913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56432" y="2103120"/>
            <a:ext cx="822960" cy="822960"/>
          </a:xfrm>
          <a:prstGeom prst="ellipse">
            <a:avLst/>
          </a:prstGeom>
          <a:solidFill>
            <a:srgbClr val="18232E"/>
          </a:solidFill>
          <a:ln w="12700">
            <a:solidFill>
              <a:srgbClr val="243341"/>
            </a:solidFill>
            <a:prstDash val="solid"/>
          </a:ln>
        </p:spPr>
      </p:sp>
      <p:pic>
        <p:nvPicPr>
          <p:cNvPr id="12" name="Image 1" descr="assets/ic_ges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27685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26080" y="30632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Gestor comercial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3273552" y="3520440"/>
            <a:ext cx="1188720" cy="0"/>
          </a:xfrm>
          <a:prstGeom prst="line">
            <a:avLst/>
          </a:prstGeom>
          <a:noFill/>
          <a:ln w="12700">
            <a:solidFill>
              <a:srgbClr val="24334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999232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Analisa KPIs, define metas, recebe alertas e gera relatórios.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84064" y="1737360"/>
            <a:ext cx="2103120" cy="2926080"/>
          </a:xfrm>
          <a:prstGeom prst="roundRect">
            <a:avLst>
              <a:gd name="adj" fmla="val 3913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24144" y="2103120"/>
            <a:ext cx="822960" cy="822960"/>
          </a:xfrm>
          <a:prstGeom prst="ellipse">
            <a:avLst/>
          </a:prstGeom>
          <a:solidFill>
            <a:srgbClr val="18232E"/>
          </a:solidFill>
          <a:ln w="12700">
            <a:solidFill>
              <a:srgbClr val="243341"/>
            </a:solidFill>
            <a:prstDash val="solid"/>
          </a:ln>
        </p:spPr>
      </p:sp>
      <p:pic>
        <p:nvPicPr>
          <p:cNvPr id="18" name="Image 2" descr="assets/ic_adm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27685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93792" y="30632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Analista de dados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541264" y="3520440"/>
            <a:ext cx="1188720" cy="0"/>
          </a:xfrm>
          <a:prstGeom prst="line">
            <a:avLst/>
          </a:prstGeom>
          <a:noFill/>
          <a:ln w="12700">
            <a:solidFill>
              <a:srgbClr val="24334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266944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Importa, valida e cruza as planilhas operacionais de vendas.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351776" y="1737360"/>
            <a:ext cx="2103120" cy="2926080"/>
          </a:xfrm>
          <a:prstGeom prst="roundRect">
            <a:avLst>
              <a:gd name="adj" fmla="val 3913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91856" y="2103120"/>
            <a:ext cx="822960" cy="822960"/>
          </a:xfrm>
          <a:prstGeom prst="ellipse">
            <a:avLst/>
          </a:prstGeom>
          <a:solidFill>
            <a:srgbClr val="18232E"/>
          </a:solidFill>
          <a:ln w="12700">
            <a:solidFill>
              <a:srgbClr val="243341"/>
            </a:solidFill>
            <a:prstDash val="solid"/>
          </a:ln>
        </p:spPr>
      </p:sp>
      <p:pic>
        <p:nvPicPr>
          <p:cNvPr id="24" name="Image 3" descr="assets/ic_adm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2276856"/>
            <a:ext cx="475488" cy="4754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61504" y="30632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Administrador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7808976" y="3520440"/>
            <a:ext cx="1188720" cy="0"/>
          </a:xfrm>
          <a:prstGeom prst="line">
            <a:avLst/>
          </a:prstGeom>
          <a:noFill/>
          <a:ln w="12700">
            <a:solidFill>
              <a:srgbClr val="243341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534656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Gerencia usuários, permissões e consulta os logs de auditoria.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9619488" y="1737360"/>
            <a:ext cx="2103120" cy="2926080"/>
          </a:xfrm>
          <a:prstGeom prst="roundRect">
            <a:avLst>
              <a:gd name="adj" fmla="val 3913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259568" y="2103120"/>
            <a:ext cx="822960" cy="822960"/>
          </a:xfrm>
          <a:prstGeom prst="ellipse">
            <a:avLst/>
          </a:prstGeom>
          <a:solidFill>
            <a:srgbClr val="18232E"/>
          </a:solidFill>
          <a:ln w="12700">
            <a:solidFill>
              <a:srgbClr val="243341"/>
            </a:solidFill>
            <a:prstDash val="solid"/>
          </a:ln>
        </p:spPr>
      </p:sp>
      <p:pic>
        <p:nvPicPr>
          <p:cNvPr id="30" name="Image 4" descr="assets/ic_exe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3304" y="2276856"/>
            <a:ext cx="475488" cy="4754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29216" y="30632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Executivo</a:t>
            </a:r>
            <a:endParaRPr lang="en-US" sz="1500" dirty="0"/>
          </a:p>
        </p:txBody>
      </p:sp>
      <p:sp>
        <p:nvSpPr>
          <p:cNvPr id="32" name="Shape 25"/>
          <p:cNvSpPr/>
          <p:nvPr/>
        </p:nvSpPr>
        <p:spPr>
          <a:xfrm>
            <a:off x="10076688" y="3520440"/>
            <a:ext cx="1188720" cy="0"/>
          </a:xfrm>
          <a:prstGeom prst="line">
            <a:avLst/>
          </a:prstGeom>
          <a:noFill/>
          <a:ln w="12700">
            <a:solidFill>
              <a:srgbClr val="243341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9802368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 resultados consolidados e interage com o assistente de IA.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1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15 histórias de usuário  </a:t>
            </a:r>
            <a:pPr indent="0" marL="0">
              <a:buNone/>
            </a:pPr>
            <a:r>
              <a:rPr lang="en-US" sz="14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distribuídas entre os perfis, com acesso controlado por papel (RBAC).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DashVendas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B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REQUISITOS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Casos de uso do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04088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assets/CasosDeUso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884" y="1600200"/>
            <a:ext cx="5678391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0" y="1508760"/>
            <a:ext cx="3657600" cy="841248"/>
          </a:xfrm>
          <a:prstGeom prst="roundRect">
            <a:avLst>
              <a:gd name="adj" fmla="val 9783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83880" y="1618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1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Análise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83880" y="19293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KPIs, desempenho individual, metas e alertas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955280" y="2478024"/>
            <a:ext cx="3657600" cy="841248"/>
          </a:xfrm>
          <a:prstGeom prst="roundRect">
            <a:avLst>
              <a:gd name="adj" fmla="val 9783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183880" y="2587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1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Importação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183880" y="2898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Upload, validação, cruzamento e logs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55280" y="3447288"/>
            <a:ext cx="3657600" cy="841248"/>
          </a:xfrm>
          <a:prstGeom prst="roundRect">
            <a:avLst>
              <a:gd name="adj" fmla="val 9783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83880" y="35570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1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Inteligência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83880" y="3867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Análises por IA e perguntas em linguagem natural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955280" y="4416552"/>
            <a:ext cx="3657600" cy="841248"/>
          </a:xfrm>
          <a:prstGeom prst="roundRect">
            <a:avLst>
              <a:gd name="adj" fmla="val 9783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18388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1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Relatórios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183880" y="48371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consolidada e agendamento de envios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55280" y="5385816"/>
            <a:ext cx="3657600" cy="841248"/>
          </a:xfrm>
          <a:prstGeom prst="roundRect">
            <a:avLst>
              <a:gd name="adj" fmla="val 9783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183880" y="54955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1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Administração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183880" y="5806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usuários, permissões e auditoria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DashVendas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B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PROJETO DE SOFTWARE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Arquitetura em camadas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58952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assets/DiagramaArquitetura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586" y="1600200"/>
            <a:ext cx="7091627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Separação de responsabilidades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03920" y="1965960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13648" y="2084832"/>
            <a:ext cx="329184" cy="329184"/>
          </a:xfrm>
          <a:prstGeom prst="rect">
            <a:avLst/>
          </a:prstGeom>
          <a:solidFill>
            <a:srgbClr val="F5B1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034272" y="19659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  </a:t>
            </a:r>
            <a:pPr indent="0" marL="0">
              <a:buNone/>
            </a:pPr>
            <a:r>
              <a:rPr lang="en-US" sz="1000" dirty="0">
                <a:solidFill>
                  <a:srgbClr val="6E84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Web (React)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03920" y="2624328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13648" y="2743200"/>
            <a:ext cx="329184" cy="329184"/>
          </a:xfrm>
          <a:prstGeom prst="rect">
            <a:avLst/>
          </a:prstGeom>
          <a:solidFill>
            <a:srgbClr val="F5B1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34272" y="26243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 </a:t>
            </a:r>
            <a:pPr indent="0" marL="0">
              <a:buNone/>
            </a:pPr>
            <a:r>
              <a:rPr lang="en-US" sz="1000" dirty="0">
                <a:solidFill>
                  <a:srgbClr val="6E84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Controllers — pontos de entrada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503920" y="3282696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13648" y="3401568"/>
            <a:ext cx="329184" cy="329184"/>
          </a:xfrm>
          <a:prstGeom prst="rect">
            <a:avLst/>
          </a:prstGeom>
          <a:solidFill>
            <a:srgbClr val="F5B1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034272" y="328269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Serviços  </a:t>
            </a:r>
            <a:pPr indent="0" marL="0">
              <a:buNone/>
            </a:pPr>
            <a:r>
              <a:rPr lang="en-US" sz="1000" dirty="0">
                <a:solidFill>
                  <a:srgbClr val="6E84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de negócio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503920" y="3941064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13648" y="4059936"/>
            <a:ext cx="329184" cy="329184"/>
          </a:xfrm>
          <a:prstGeom prst="rect">
            <a:avLst/>
          </a:prstGeom>
          <a:solidFill>
            <a:srgbClr val="F5B1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034272" y="394106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Persistência  </a:t>
            </a:r>
            <a:pPr indent="0" marL="0">
              <a:buNone/>
            </a:pPr>
            <a:r>
              <a:rPr lang="en-US" sz="1000" dirty="0">
                <a:solidFill>
                  <a:srgbClr val="6E84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Repositories + ORM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503920" y="4599432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13648" y="4718304"/>
            <a:ext cx="329184" cy="329184"/>
          </a:xfrm>
          <a:prstGeom prst="rect">
            <a:avLst/>
          </a:prstGeom>
          <a:solidFill>
            <a:srgbClr val="F5B1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034272" y="45994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 </a:t>
            </a:r>
            <a:pPr indent="0" marL="0">
              <a:buNone/>
            </a:pPr>
            <a:r>
              <a:rPr lang="en-US" sz="1000" dirty="0">
                <a:solidFill>
                  <a:srgbClr val="6E84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 externo de IA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503920" y="5303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Baixo acoplamento, alta testabilidade e evolução facilitada.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DashVendas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B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PROJETO DE SOFTWARE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Padrões de projeto aplicados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Quatro padrões clássicos sustentam a extensibilidade e a manutenção do sistema.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13248" cy="1828800"/>
          </a:xfrm>
          <a:prstGeom prst="roundRect">
            <a:avLst>
              <a:gd name="adj" fmla="val 4500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2316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F5B133">
              <a:alpha val="14000"/>
            </a:srgbClr>
          </a:solidFill>
          <a:ln/>
        </p:spPr>
      </p:sp>
      <p:pic>
        <p:nvPicPr>
          <p:cNvPr id="7" name="Image 0" descr="assets/ic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7860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441448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45920" y="2807208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8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KPIService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" y="3246120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indicador é uma estratégia de cálculo intercambiável. Novos KPIs sem alterar o fluxo principal (Open/Closed).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99632" y="2148840"/>
            <a:ext cx="5413248" cy="1828800"/>
          </a:xfrm>
          <a:prstGeom prst="roundRect">
            <a:avLst>
              <a:gd name="adj" fmla="val 4500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55664" y="242316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F5B133">
              <a:alpha val="14000"/>
            </a:srgbClr>
          </a:solidFill>
          <a:ln/>
        </p:spPr>
      </p:sp>
      <p:pic>
        <p:nvPicPr>
          <p:cNvPr id="13" name="Image 1" descr="assets/ic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57860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96912" y="2441448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Template Method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296912" y="2807208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8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ValidacaoPlanilhaService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55664" y="3246120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validarPlanilha() define o esqueleto fixo do algoritmo; validarItem() especializa as regras de validação.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178808"/>
            <a:ext cx="5413248" cy="1828800"/>
          </a:xfrm>
          <a:prstGeom prst="roundRect">
            <a:avLst>
              <a:gd name="adj" fmla="val 4500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4672" y="445312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F5B133">
              <a:alpha val="14000"/>
            </a:srgbClr>
          </a:solidFill>
          <a:ln/>
        </p:spPr>
      </p:sp>
      <p:pic>
        <p:nvPicPr>
          <p:cNvPr id="19" name="Image 2" descr="assets/ic_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608576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4471416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Adapter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645920" y="483717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8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IAGateway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04672" y="5276088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Desacopla o sistema do provedor externo de IA. Troca de GPT para fallback local sem afetar as demais camadas.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199632" y="4178808"/>
            <a:ext cx="5413248" cy="1828800"/>
          </a:xfrm>
          <a:prstGeom prst="roundRect">
            <a:avLst>
              <a:gd name="adj" fmla="val 4500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55664" y="445312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F5B133">
              <a:alpha val="14000"/>
            </a:srgbClr>
          </a:solidFill>
          <a:ln/>
        </p:spPr>
      </p:sp>
      <p:pic>
        <p:nvPicPr>
          <p:cNvPr id="25" name="Image 3" descr="assets/ic_d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608576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96912" y="4471416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Repository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296912" y="483717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8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455664" y="5276088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 o acesso a dados das regras de negócio. Serviços dependem de interfaces, não do banco.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DashVendas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B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FUNCIONALIDADE-CHAVE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Importação em três etapas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coração operacional do sistema: da planilha bruta às vendas consolidadas que alimentam todos os indicadores.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87168"/>
            <a:ext cx="603504" cy="603504"/>
          </a:xfrm>
          <a:prstGeom prst="ellipse">
            <a:avLst/>
          </a:prstGeom>
          <a:solidFill>
            <a:srgbClr val="F5B1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871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2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2200" dirty="0"/>
          </a:p>
        </p:txBody>
      </p:sp>
      <p:pic>
        <p:nvPicPr>
          <p:cNvPr id="8" name="Image 0" descr="assets/ic_im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8104" y="257860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27355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Importar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74904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do arquivo .xlsx. O sistema lê os registros e verifica as colunas obrigatórias.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163824" y="4480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UC08</a:t>
            </a:r>
            <a:endParaRPr lang="en-US" sz="1000" dirty="0"/>
          </a:p>
        </p:txBody>
      </p:sp>
      <p:pic>
        <p:nvPicPr>
          <p:cNvPr id="12" name="Image 1" descr="assets/ic_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3410712"/>
            <a:ext cx="310896" cy="310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35424" y="21945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09744" y="2487168"/>
            <a:ext cx="603504" cy="603504"/>
          </a:xfrm>
          <a:prstGeom prst="ellipse">
            <a:avLst/>
          </a:prstGeom>
          <a:solidFill>
            <a:srgbClr val="F5B133"/>
          </a:solidFill>
          <a:ln/>
        </p:spPr>
      </p:sp>
      <p:sp>
        <p:nvSpPr>
          <p:cNvPr id="15" name="Text 11"/>
          <p:cNvSpPr/>
          <p:nvPr/>
        </p:nvSpPr>
        <p:spPr>
          <a:xfrm>
            <a:off x="4809744" y="24871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2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2200" dirty="0"/>
          </a:p>
        </p:txBody>
      </p:sp>
      <p:pic>
        <p:nvPicPr>
          <p:cNvPr id="16" name="Image 2" descr="assets/ic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257860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9744" y="327355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Validar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809744" y="374904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 estrutural e de campos: tipos, valores, duplicidades e consistência.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150608" y="4480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UC09</a:t>
            </a:r>
            <a:endParaRPr lang="en-US" sz="1000" dirty="0"/>
          </a:p>
        </p:txBody>
      </p:sp>
      <p:pic>
        <p:nvPicPr>
          <p:cNvPr id="20" name="Image 3" descr="assets/ic_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3410712"/>
            <a:ext cx="310896" cy="31089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522208" y="21945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796528" y="2487168"/>
            <a:ext cx="603504" cy="603504"/>
          </a:xfrm>
          <a:prstGeom prst="ellipse">
            <a:avLst/>
          </a:prstGeom>
          <a:solidFill>
            <a:srgbClr val="F5B133"/>
          </a:solidFill>
          <a:ln/>
        </p:spPr>
      </p:sp>
      <p:sp>
        <p:nvSpPr>
          <p:cNvPr id="23" name="Text 17"/>
          <p:cNvSpPr/>
          <p:nvPr/>
        </p:nvSpPr>
        <p:spPr>
          <a:xfrm>
            <a:off x="8796528" y="24871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2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2200" dirty="0"/>
          </a:p>
        </p:txBody>
      </p:sp>
      <p:pic>
        <p:nvPicPr>
          <p:cNvPr id="24" name="Image 4" descr="assets/ic_puzz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672" y="2578608"/>
            <a:ext cx="420624" cy="42062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796528" y="327355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Cruzar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8796528" y="374904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Casamento de produtos por código ou similaridade textual (≥ 0,75) e consolidação.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11137392" y="4480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UC10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C9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Rastreabilidade  </a:t>
            </a:r>
            <a:pPr indent="0" marL="0">
              <a:buNone/>
            </a:pPr>
            <a:r>
              <a:rPr lang="en-US" sz="13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etapa registra um log de auditoria com data, usuário e resultado do processamento.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DashVendas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B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DIFERENCIAL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Assistente de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Camada inteligente que interpreta os KPIs e democratiza o acesso à análise de dados.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840480" cy="1920240"/>
          </a:xfrm>
          <a:prstGeom prst="roundRect">
            <a:avLst>
              <a:gd name="adj" fmla="val 4286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68880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F5B133">
              <a:alpha val="14000"/>
            </a:srgbClr>
          </a:solidFill>
          <a:ln/>
        </p:spPr>
      </p:sp>
      <p:pic>
        <p:nvPicPr>
          <p:cNvPr id="7" name="Image 0" descr="assets/ic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61518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50545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Análise interpretativa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4672" y="3218688"/>
            <a:ext cx="3328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 um texto explicando tendências, variações e riscos de meta a partir dos indicadores calculados.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66160" y="3730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UC12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45152" y="2194560"/>
            <a:ext cx="3840480" cy="1920240"/>
          </a:xfrm>
          <a:prstGeom prst="roundRect">
            <a:avLst>
              <a:gd name="adj" fmla="val 4286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01184" y="2468880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F5B133">
              <a:alpha val="14000"/>
            </a:srgbClr>
          </a:solidFill>
          <a:ln/>
        </p:spPr>
      </p:sp>
      <p:pic>
        <p:nvPicPr>
          <p:cNvPr id="13" name="Image 1" descr="assets/ic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61518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96712" y="250545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Linguagem natural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901184" y="3218688"/>
            <a:ext cx="3328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perguntas como “Qual a melhor região?” consultando os KPIs reais do sistema.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62672" y="3730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UC13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595360" y="2194560"/>
            <a:ext cx="3017520" cy="1920240"/>
          </a:xfrm>
          <a:prstGeom prst="roundRect">
            <a:avLst>
              <a:gd name="adj" fmla="val 4286"/>
            </a:avLst>
          </a:prstGeom>
          <a:solidFill>
            <a:srgbClr val="18232E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2" descr="assets/ic_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2" y="2468880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72600" y="24688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1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Padrão Adapter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851392" y="3063240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 API quando configurada; fallback local baseado em regras quando offline. O sistema nunca fica indisponível.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43484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0F161D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777240" y="4599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Exemplo de interação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315200" y="493776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5B133"/>
          </a:solidFill>
          <a:ln/>
        </p:spPr>
      </p:sp>
      <p:sp>
        <p:nvSpPr>
          <p:cNvPr id="24" name="Text 19"/>
          <p:cNvSpPr/>
          <p:nvPr/>
        </p:nvSpPr>
        <p:spPr>
          <a:xfrm>
            <a:off x="7406640" y="4937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2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foi o total de vendas no último mês?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777240" y="5486400"/>
            <a:ext cx="6583680" cy="566928"/>
          </a:xfrm>
          <a:prstGeom prst="roundRect">
            <a:avLst>
              <a:gd name="adj" fmla="val 16129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14400" y="548640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total de vendas foi de R$ 43.900,00 em 12 pedidos, com ticket médio de R$ 3.658,33.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DashVendas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B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PERSISTÊNCIA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Modelo de dados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22960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assets/DE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21755"/>
            <a:ext cx="7863840" cy="45288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6840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1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12 entidades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006840" y="2011680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Usuário · Região · Produto · Venda · Meta · KPI · Alerta · Importação · Item de Importação · Log · Agendamento · Relatório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006840" y="448056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18232E"/>
          </a:solidFill>
          <a:ln w="12700">
            <a:solidFill>
              <a:srgbClr val="2433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89720" y="4617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SQLite + SQLAlchemy ORM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89720" y="4983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Mapeamento objeto-relacional com seed automático de dados de demonstração.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DashVendas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B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Tecnologias utilizadas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assets/ic_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Back-end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68680" y="2578608"/>
            <a:ext cx="118872" cy="118872"/>
          </a:xfrm>
          <a:prstGeom prst="ellipse">
            <a:avLst/>
          </a:prstGeom>
          <a:solidFill>
            <a:srgbClr val="F5B133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468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+ FastAPI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REST moderna, assíncrona e documentada (OpenAPI)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3236976"/>
            <a:ext cx="118872" cy="118872"/>
          </a:xfrm>
          <a:prstGeom prst="ellipse">
            <a:avLst/>
          </a:prstGeom>
          <a:solidFill>
            <a:srgbClr val="F5B133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1272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SQLAlchemy + SQLite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ORM e banco de dados relacional embarcado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3895344"/>
            <a:ext cx="118872" cy="118872"/>
          </a:xfrm>
          <a:prstGeom prst="ellipse">
            <a:avLst/>
          </a:prstGeom>
          <a:solidFill>
            <a:srgbClr val="F5B133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7856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 + openpyxl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Leitura e processamento das planilhas Excel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" y="4553712"/>
            <a:ext cx="118872" cy="118872"/>
          </a:xfrm>
          <a:prstGeom prst="ellipse">
            <a:avLst/>
          </a:prstGeom>
          <a:solidFill>
            <a:srgbClr val="F5B133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4439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+ Passlib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Autenticação por token e hashing seguro de senhas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" y="5212080"/>
            <a:ext cx="118872" cy="118872"/>
          </a:xfrm>
          <a:prstGeom prst="ellipse">
            <a:avLst/>
          </a:prstGeom>
          <a:solidFill>
            <a:srgbClr val="F5B133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51023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Pytest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Suíte de testes automatizados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1" descr="assets/ic_re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3232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Front-end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6583680" y="2578608"/>
            <a:ext cx="118872" cy="118872"/>
          </a:xfrm>
          <a:prstGeom prst="ellipse">
            <a:avLst/>
          </a:prstGeom>
          <a:solidFill>
            <a:srgbClr val="36C9B6"/>
          </a:solidFill>
          <a:ln/>
        </p:spPr>
      </p:sp>
      <p:sp>
        <p:nvSpPr>
          <p:cNvPr id="21" name="Text 17"/>
          <p:cNvSpPr/>
          <p:nvPr/>
        </p:nvSpPr>
        <p:spPr>
          <a:xfrm>
            <a:off x="6858000" y="2468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Vite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 reativa com build rápido e moderno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583680" y="3236976"/>
            <a:ext cx="118872" cy="118872"/>
          </a:xfrm>
          <a:prstGeom prst="ellipse">
            <a:avLst/>
          </a:prstGeom>
          <a:solidFill>
            <a:srgbClr val="36C9B6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0" y="31272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Router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Rotas protegidas por perfil de acesso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583680" y="3895344"/>
            <a:ext cx="118872" cy="118872"/>
          </a:xfrm>
          <a:prstGeom prst="ellipse">
            <a:avLst/>
          </a:prstGeom>
          <a:solidFill>
            <a:srgbClr val="36C9B6"/>
          </a:solidFill>
          <a:ln/>
        </p:spPr>
      </p:sp>
      <p:sp>
        <p:nvSpPr>
          <p:cNvPr id="25" name="Text 21"/>
          <p:cNvSpPr/>
          <p:nvPr/>
        </p:nvSpPr>
        <p:spPr>
          <a:xfrm>
            <a:off x="6858000" y="37856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Axios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 HTTP com token JWT automático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583680" y="4553712"/>
            <a:ext cx="118872" cy="118872"/>
          </a:xfrm>
          <a:prstGeom prst="ellipse">
            <a:avLst/>
          </a:prstGeom>
          <a:solidFill>
            <a:srgbClr val="36C9B6"/>
          </a:solidFill>
          <a:ln/>
        </p:spPr>
      </p:sp>
      <p:sp>
        <p:nvSpPr>
          <p:cNvPr id="27" name="Text 23"/>
          <p:cNvSpPr/>
          <p:nvPr/>
        </p:nvSpPr>
        <p:spPr>
          <a:xfrm>
            <a:off x="6858000" y="44439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API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Gerenciamento de autenticação e sessão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583680" y="5212080"/>
            <a:ext cx="118872" cy="118872"/>
          </a:xfrm>
          <a:prstGeom prst="ellipse">
            <a:avLst/>
          </a:prstGeom>
          <a:solidFill>
            <a:srgbClr val="36C9B6"/>
          </a:solidFill>
          <a:ln/>
        </p:spPr>
      </p:sp>
      <p:sp>
        <p:nvSpPr>
          <p:cNvPr id="29" name="Text 25"/>
          <p:cNvSpPr/>
          <p:nvPr/>
        </p:nvSpPr>
        <p:spPr>
          <a:xfrm>
            <a:off x="6858000" y="51023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system próprio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puro, tema escuro grafite-âmbar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DashVendas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B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VERIFICAÇÃO &amp; VALIDAÇÃO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Estratégia de testes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testes automatizados reproduzem fielmente os casos documentados na Seção 6 da documentação.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5000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1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935224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de aceitação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20954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CT01–CT04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235000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C9B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11880" y="2935224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de integração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11880" y="320954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TI01–TI03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14884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235000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9B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46520" y="2935224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Arquivos de teste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320954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52560" y="214884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81160" y="235000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CF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281160" y="2935224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Padrões cobertos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81160" y="320954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· Adapter…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11064240" cy="2240280"/>
          </a:xfrm>
          <a:prstGeom prst="roundRect">
            <a:avLst>
              <a:gd name="adj" fmla="val 3673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que é verificado</a:t>
            </a:r>
            <a:endParaRPr lang="en-US" sz="1400" dirty="0"/>
          </a:p>
        </p:txBody>
      </p:sp>
      <p:pic>
        <p:nvPicPr>
          <p:cNvPr id="23" name="Image 0" descr="assets/ic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407408"/>
            <a:ext cx="237744" cy="23774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24712" y="435254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 de KPIs consolidados e por filtro (região, categoria)</a:t>
            </a:r>
            <a:endParaRPr lang="en-US" sz="1200" dirty="0"/>
          </a:p>
        </p:txBody>
      </p:sp>
      <p:pic>
        <p:nvPicPr>
          <p:cNvPr id="25" name="Image 1" descr="assets/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4407408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702552" y="435254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Importação de planilhas válidas e rejeição de formatos inválidos</a:t>
            </a:r>
            <a:endParaRPr lang="en-US" sz="1200" dirty="0"/>
          </a:p>
        </p:txBody>
      </p:sp>
      <p:pic>
        <p:nvPicPr>
          <p:cNvPr id="27" name="Image 2" descr="assets/ic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82896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24712" y="48280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de campos e detecção de inconsistências</a:t>
            </a:r>
            <a:endParaRPr lang="en-US" sz="1200" dirty="0"/>
          </a:p>
        </p:txBody>
      </p:sp>
      <p:pic>
        <p:nvPicPr>
          <p:cNvPr id="29" name="Image 3" descr="assets/ic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882896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702552" y="48280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Cruzamento de produtos por código e similaridade textual</a:t>
            </a:r>
            <a:endParaRPr lang="en-US" sz="1200" dirty="0"/>
          </a:p>
        </p:txBody>
      </p:sp>
      <p:pic>
        <p:nvPicPr>
          <p:cNvPr id="31" name="Image 4" descr="assets/ic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58384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24712" y="53035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Atingimento de metas e geração automática de alertas</a:t>
            </a:r>
            <a:endParaRPr lang="en-US" sz="1200" dirty="0"/>
          </a:p>
        </p:txBody>
      </p:sp>
      <p:pic>
        <p:nvPicPr>
          <p:cNvPr id="33" name="Image 5" descr="assets/ic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5358384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02552" y="53035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IA ↔ KPIs e fallback local do assistente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DashVendas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B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 FINAL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aplicação em funcionamento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0F161D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3246120" cy="457200"/>
          </a:xfrm>
          <a:prstGeom prst="roundRect">
            <a:avLst>
              <a:gd name="adj" fmla="val 10000"/>
            </a:avLst>
          </a:prstGeom>
          <a:solidFill>
            <a:srgbClr val="18232E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947672"/>
            <a:ext cx="118872" cy="118872"/>
          </a:xfrm>
          <a:prstGeom prst="ellipse">
            <a:avLst/>
          </a:prstGeom>
          <a:solidFill>
            <a:srgbClr val="F06363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947672"/>
            <a:ext cx="118872" cy="118872"/>
          </a:xfrm>
          <a:prstGeom prst="ellipse">
            <a:avLst/>
          </a:prstGeom>
          <a:solidFill>
            <a:srgbClr val="F5B133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1947672"/>
            <a:ext cx="118872" cy="118872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350008"/>
            <a:ext cx="3246120" cy="1508760"/>
          </a:xfrm>
          <a:prstGeom prst="roundRect">
            <a:avLst>
              <a:gd name="adj" fmla="val 3030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B1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KPIs, vendas por região e alertas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0832" y="160020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0F161D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3712" y="1783080"/>
            <a:ext cx="3246120" cy="457200"/>
          </a:xfrm>
          <a:prstGeom prst="roundRect">
            <a:avLst>
              <a:gd name="adj" fmla="val 10000"/>
            </a:avLst>
          </a:prstGeom>
          <a:solidFill>
            <a:srgbClr val="18232E"/>
          </a:solidFill>
          <a:ln/>
        </p:spPr>
      </p:sp>
      <p:sp>
        <p:nvSpPr>
          <p:cNvPr id="14" name="Shape 12"/>
          <p:cNvSpPr/>
          <p:nvPr/>
        </p:nvSpPr>
        <p:spPr>
          <a:xfrm>
            <a:off x="4718304" y="1947672"/>
            <a:ext cx="118872" cy="118872"/>
          </a:xfrm>
          <a:prstGeom prst="ellipse">
            <a:avLst/>
          </a:prstGeom>
          <a:solidFill>
            <a:srgbClr val="F06363"/>
          </a:solidFill>
          <a:ln/>
        </p:spPr>
      </p:sp>
      <p:sp>
        <p:nvSpPr>
          <p:cNvPr id="15" name="Shape 13"/>
          <p:cNvSpPr/>
          <p:nvPr/>
        </p:nvSpPr>
        <p:spPr>
          <a:xfrm>
            <a:off x="4919472" y="1947672"/>
            <a:ext cx="118872" cy="118872"/>
          </a:xfrm>
          <a:prstGeom prst="ellipse">
            <a:avLst/>
          </a:prstGeom>
          <a:solidFill>
            <a:srgbClr val="F5B133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1947672"/>
            <a:ext cx="118872" cy="118872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53712" y="2350008"/>
            <a:ext cx="3246120" cy="1508760"/>
          </a:xfrm>
          <a:prstGeom prst="roundRect">
            <a:avLst>
              <a:gd name="adj" fmla="val 3030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B1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Importação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36592" y="3429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Stepper de 3 etapas com validação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93024" y="160020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0F161D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75904" y="1783080"/>
            <a:ext cx="3246120" cy="457200"/>
          </a:xfrm>
          <a:prstGeom prst="roundRect">
            <a:avLst>
              <a:gd name="adj" fmla="val 10000"/>
            </a:avLst>
          </a:prstGeom>
          <a:solidFill>
            <a:srgbClr val="18232E"/>
          </a:solidFill>
          <a:ln/>
        </p:spPr>
      </p:sp>
      <p:sp>
        <p:nvSpPr>
          <p:cNvPr id="22" name="Shape 20"/>
          <p:cNvSpPr/>
          <p:nvPr/>
        </p:nvSpPr>
        <p:spPr>
          <a:xfrm>
            <a:off x="8540496" y="1947672"/>
            <a:ext cx="118872" cy="118872"/>
          </a:xfrm>
          <a:prstGeom prst="ellipse">
            <a:avLst/>
          </a:prstGeom>
          <a:solidFill>
            <a:srgbClr val="F06363"/>
          </a:solidFill>
          <a:ln/>
        </p:spPr>
      </p:sp>
      <p:sp>
        <p:nvSpPr>
          <p:cNvPr id="23" name="Shape 21"/>
          <p:cNvSpPr/>
          <p:nvPr/>
        </p:nvSpPr>
        <p:spPr>
          <a:xfrm>
            <a:off x="8741664" y="1947672"/>
            <a:ext cx="118872" cy="118872"/>
          </a:xfrm>
          <a:prstGeom prst="ellipse">
            <a:avLst/>
          </a:prstGeom>
          <a:solidFill>
            <a:srgbClr val="F5B133"/>
          </a:solidFill>
          <a:ln/>
        </p:spPr>
      </p:sp>
      <p:sp>
        <p:nvSpPr>
          <p:cNvPr id="24" name="Shape 22"/>
          <p:cNvSpPr/>
          <p:nvPr/>
        </p:nvSpPr>
        <p:spPr>
          <a:xfrm>
            <a:off x="8942832" y="1947672"/>
            <a:ext cx="118872" cy="118872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5" name="Shape 23"/>
          <p:cNvSpPr/>
          <p:nvPr/>
        </p:nvSpPr>
        <p:spPr>
          <a:xfrm>
            <a:off x="8375904" y="2350008"/>
            <a:ext cx="3246120" cy="1508760"/>
          </a:xfrm>
          <a:prstGeom prst="roundRect">
            <a:avLst>
              <a:gd name="adj" fmla="val 3030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75904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B1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Assistente IA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558784" y="3429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e análises interpretativas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18232E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29" name="Image 0" descr="assets/ic_id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83480"/>
            <a:ext cx="502920" cy="5029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508760" y="48463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Demonstração ao vivo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por perfil, importação de planilha de exemplo, dashboard atualizando e o assistente respondendo perguntas.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DashVendas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B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ENCERRAMENTO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Resultados e conclusão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13248" cy="1371600"/>
          </a:xfrm>
          <a:prstGeom prst="roundRect">
            <a:avLst>
              <a:gd name="adj" fmla="val 6000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assets/ic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4708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73936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Objetivos atingidos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2157984"/>
            <a:ext cx="4361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15 casos de uso e 15 histórias de usuário foram implementados e testados.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99632" y="1554480"/>
            <a:ext cx="5413248" cy="1371600"/>
          </a:xfrm>
          <a:prstGeom prst="roundRect">
            <a:avLst>
              <a:gd name="adj" fmla="val 6000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assets/ic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84708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68312" y="1773936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Arquitetura sólida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068312" y="2157984"/>
            <a:ext cx="4361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Camadas bem definidas e 4 padrões de projeto garantem manutenção e extensibilidade.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127248"/>
            <a:ext cx="5413248" cy="1371600"/>
          </a:xfrm>
          <a:prstGeom prst="roundRect">
            <a:avLst>
              <a:gd name="adj" fmla="val 6000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assets/ic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19856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346704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Diferencial de IA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17320" y="3730752"/>
            <a:ext cx="4361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Assistente interpretativo com integração externa desacoplada e fallback local.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199632" y="3127248"/>
            <a:ext cx="5413248" cy="1371600"/>
          </a:xfrm>
          <a:prstGeom prst="roundRect">
            <a:avLst>
              <a:gd name="adj" fmla="val 6000"/>
            </a:avLst>
          </a:prstGeom>
          <a:solidFill>
            <a:srgbClr val="131C25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assets/ic_t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419856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68312" y="3346704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Qualidade comprovada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068312" y="3730752"/>
            <a:ext cx="4361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automatizados rastreáveis aos casos documentados na Seção 6.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8232E"/>
          </a:solidFill>
          <a:ln w="12700">
            <a:solidFill>
              <a:srgbClr val="24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7724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1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Trabalhos futuros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77240" y="519379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Previsão de vendas com séries temporais  ·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exportação em PDF/Excel nativa  ·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 configuráveis  ·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notificações por e-mail em tempo real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DashVendas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8229600" cy="8229600"/>
          </a:xfrm>
          <a:prstGeom prst="ellipse">
            <a:avLst/>
          </a:prstGeom>
          <a:solidFill>
            <a:srgbClr val="F5B13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2743200"/>
            <a:ext cx="7315200" cy="7315200"/>
          </a:xfrm>
          <a:prstGeom prst="ellipse">
            <a:avLst/>
          </a:prstGeom>
          <a:solidFill>
            <a:srgbClr val="36C9B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01168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5B13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20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DV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AF1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Obrigado.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C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Perguntas são bem-vindas.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4937760"/>
            <a:ext cx="10424160" cy="0"/>
          </a:xfrm>
          <a:prstGeom prst="line">
            <a:avLst/>
          </a:prstGeom>
          <a:noFill/>
          <a:ln w="12700">
            <a:solidFill>
              <a:srgbClr val="243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120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João Vítor Rajão e Souza</a:t>
            </a:r>
            <a:pPr indent="0" marL="0">
              <a:buNone/>
            </a:pPr>
            <a:r>
              <a:rPr lang="en-US" sz="1300" dirty="0">
                <a:solidFill>
                  <a:srgbClr val="6E84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Engenharia de Software · PUC Minas · 2025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DashVendas — TCC</dc:title>
  <dc:subject>PptxGenJS Presentation</dc:subject>
  <dc:creator>João Vítor Rajão e Souza</dc:creator>
  <cp:lastModifiedBy>João Vítor Rajão e Souza</cp:lastModifiedBy>
  <cp:revision>1</cp:revision>
  <dcterms:created xsi:type="dcterms:W3CDTF">2026-06-12T08:39:48Z</dcterms:created>
  <dcterms:modified xsi:type="dcterms:W3CDTF">2026-06-12T08:39:48Z</dcterms:modified>
</cp:coreProperties>
</file>